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封面停十几秒即可。先念题目，再补一句：今天不复述整本书，只谈它怎样改变我看身边事物的方式。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建议用时约三十秒。可以基本照着念，念完停一下再翻页。</a:t>
            </a:r>
          </a:p>
          <a:p/>
          <a:p>
            <a:r>
              <a:t>一种不正常的安静。春天本来喧哗。鸟、虫和风叠在一起，人才觉得这个季节是活的。卡森写下“寂静的春天”，说的是另一种安静：</a:t>
            </a:r>
          </a:p>
          <a:p>
            <a:r>
              <a:t>不是安宁，而是许多生命已经无法出声。</a:t>
            </a:r>
          </a:p>
          <a:p>
            <a:r>
              <a:t>安静若来得不正常，就该被追问。我由此想起的，是自己每天走过的地方。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建议用时约三十秒。可以基本照着念，念完停一下再翻页。</a:t>
            </a:r>
          </a:p>
          <a:p/>
          <a:p>
            <a:r>
              <a:t>后果并不听话。《寂静的春天》写到药剂怎样进入土壤、河水、食物和身体，</a:t>
            </a:r>
          </a:p>
          <a:p>
            <a:r>
              <a:t>又怎样沿着食物链慢慢积累。她并不要求人们放弃防治虫害。她反对的是另一种自信：</a:t>
            </a:r>
          </a:p>
          <a:p>
            <a:r>
              <a:t>以为伤害可以只落在指定的那一只虫子身上。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建议用时约三十秒。可以基本照着念，念完停一下再翻页。</a:t>
            </a:r>
          </a:p>
          <a:p/>
          <a:p>
            <a:r>
              <a:t>有用之后，还要问。环境伦理不停止于“这样做有没有用”。</a:t>
            </a:r>
          </a:p>
          <a:p>
            <a:r>
              <a:t>它还要问：对谁有用，伤害了谁，谁没有同意，损失能不能挽回。鸟不再鸣叫，既是生态上的损失，也是道德上的事故。</a:t>
            </a:r>
          </a:p>
          <a:p>
            <a:r>
              <a:t>消失的声音，补偿并不总能换回。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建议用时约三十秒。可以基本照着念，念完停一下再翻页。</a:t>
            </a:r>
          </a:p>
          <a:p/>
          <a:p>
            <a:r>
              <a:t>先守住底线。有人因为人类需要而保护自然，有人因为生命本身值得尊重，</a:t>
            </a:r>
          </a:p>
          <a:p>
            <a:r>
              <a:t>也有人看到河流、土壤与物种构成的共同体。这些名称可以先放下。即便只为人的健康，我们已经应当克制。</a:t>
            </a:r>
          </a:p>
          <a:p>
            <a:r>
              <a:t>不能开口的生命，更不该因为无法拒绝就被忽略。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建议用时约三十秒。可以基本照着念，念完停一下再翻页。</a:t>
            </a:r>
          </a:p>
          <a:p/>
          <a:p>
            <a:r>
              <a:t>请关窗。夏夜，小区喷药灭蚊，通知常常只剩一句“请关窗”。</a:t>
            </a:r>
          </a:p>
          <a:p>
            <a:r>
              <a:t>草地、晾着的衣服、灌木里的猫，都躲不开那层雾。不想被叮咬，这个愿望没有错。我们很少接着问：</a:t>
            </a:r>
          </a:p>
          <a:p>
            <a:r>
              <a:t>还有没有更窄的办法？知情，是不是等于被通知了一句？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建议用时约三十秒。可以基本照着念，念完停一下再翻页。</a:t>
            </a:r>
          </a:p>
          <a:p/>
          <a:p>
            <a:r>
              <a:t>整洁不等于活着。河岸被砌平，路灯亮了，老人却说鱼一年比一年少。</a:t>
            </a:r>
          </a:p>
          <a:p>
            <a:r>
              <a:t>整洁有时是治理，有时只是清除。外卖和塑料袋更日常：没有谁存心作恶，只有不断重复的方便。</a:t>
            </a:r>
          </a:p>
          <a:p>
            <a:r>
              <a:t>代价被推给河道、土壤，和还不能发言的后人。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建议用时约三十秒。可以基本照着念，念完停一下再翻页。</a:t>
            </a:r>
          </a:p>
          <a:p/>
          <a:p>
            <a:r>
              <a:t>“不是我”。这些伤害看不见，来得慢，又被分成很小的一份，</a:t>
            </a:r>
          </a:p>
          <a:p>
            <a:r>
              <a:t>于是每个人都能说“不是我”。责任一旦被稀释，并不因此消失。环境问题里最常见的不公，是好处归一方，风险归另一方。</a:t>
            </a:r>
          </a:p>
          <a:p>
            <a:r>
              <a:t>卡森把散开的事实重新接上，让链条末端的生命被看见。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建议用时约三十秒。可以基本照着念，念完停一下再翻页。</a:t>
            </a:r>
          </a:p>
          <a:p/>
          <a:p>
            <a:r>
              <a:t>再等一等。“还没有定论”常常用来换取继续照旧的时间。</a:t>
            </a:r>
          </a:p>
          <a:p>
            <a:r>
              <a:t>当伤害可能严重、而且难以挽回，谨慎本身就是一种道德。过早的谨慎，往往比过晚的确信更负责。</a:t>
            </a:r>
          </a:p>
          <a:p>
            <a:r>
              <a:t>未来的人不坐在今天的谈判桌前。</a:t>
            </a:r>
          </a:p>
          <a:p>
            <a:r>
              <a:t>对他们来说，再等一等，也许就是没有了。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建议用时约三十秒。可以基本照着念，念完停一下再翻页。</a:t>
            </a:r>
          </a:p>
          <a:p/>
          <a:p>
            <a:r>
              <a:t>何处该停。卡森质疑“控制自然”，不是反对求知，而是反对狂妄。</a:t>
            </a:r>
          </a:p>
          <a:p>
            <a:r>
              <a:t>认识了局部，不等于有权重组整个生活世界。全面喷药、砌死河岸、再换一个更大的袋子，</a:t>
            </a:r>
          </a:p>
          <a:p>
            <a:r>
              <a:t>每一步都像在解决问题，连起来却可能去掉自然自身的调节。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建议用时约三十秒。可以基本照着念，念完停一下再翻页。</a:t>
            </a:r>
          </a:p>
          <a:p/>
          <a:p>
            <a:r>
              <a:t>在意，才会出声。责任不必先说得很大。问清一次喷药的范围，少用一个塑料袋，</a:t>
            </a:r>
          </a:p>
          <a:p>
            <a:r>
              <a:t>同时承认这代替不了制度。更要紧的是还愿意在意。没有在意，问题就不会被说出来。</a:t>
            </a:r>
          </a:p>
          <a:p>
            <a:r>
              <a:t>人不该把世界改到只剩下自己的回声。</a:t>
            </a:r>
          </a:p>
          <a:p>
            <a:r>
              <a:t>寂静若已开始，它不是风景，是催促。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44768"/>
            <a:ext cx="12191695" cy="713232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9144000" cy="36576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A85A3A"/>
                </a:solidFill>
                <a:latin typeface="WenQuanYi Micro Hei"/>
                <a:ea typeface="WenQuanYi Micro Hei"/>
                <a:cs typeface="WenQuanYi Micro Hei"/>
              </a:rPr>
              <a:t>环境伦理  ·  读书报告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1B3A2F"/>
                </a:solidFill>
                <a:latin typeface="WenQuanYi Micro Hei"/>
                <a:ea typeface="WenQuanYi Micro Hei"/>
                <a:cs typeface="WenQuanYi Micro Hei"/>
              </a:rPr>
              <a:t>寂静从何而来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29000"/>
            <a:ext cx="1920240" cy="41148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058400" cy="45720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重读蕾切尔·卡森《寂静的春天》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9601200" cy="7315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5C6860"/>
                </a:solidFill>
                <a:latin typeface="WenQuanYi Micro Hei"/>
                <a:ea typeface="WenQuanYi Micro Hei"/>
                <a:cs typeface="WenQuanYi Micro Hei"/>
              </a:rPr>
              <a:t>把书中的警告，放到身边那些被当成小事的安静里。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72784"/>
            <a:ext cx="7315200" cy="38404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正文约一千字    ·    建议讲述五分钟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6272784"/>
            <a:ext cx="2377440" cy="38404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共 11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103120" cy="82296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3200" b="1">
                <a:solidFill>
                  <a:srgbClr val="D5DED6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7315200" cy="329184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85A3A"/>
                </a:solidFill>
                <a:latin typeface="WenQuanYi Micro Hei"/>
                <a:ea typeface="WenQuanYi Micro Hei"/>
                <a:cs typeface="WenQuanYi Micro Hei"/>
              </a:rPr>
              <a:t>从一本书读起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49808"/>
            <a:ext cx="9601200" cy="7772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3A2F"/>
                </a:solidFill>
                <a:latin typeface="WenQuanYi Micro Hei"/>
                <a:ea typeface="WenQuanYi Micro Hei"/>
                <a:cs typeface="WenQuanYi Micro Hei"/>
              </a:rPr>
              <a:t>一种不正常的安静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27632"/>
            <a:ext cx="1234440" cy="41148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38528"/>
            <a:ext cx="11201400" cy="41605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73152" cy="4160520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10561320" cy="3703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28000"/>
              </a:lnSpc>
              <a:spcAft>
                <a:spcPts val="1600"/>
              </a:spcAft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春天本来喧哗。鸟、虫和风叠在一起，人才觉得这个季节是活的。</a:t>
            </a:r>
          </a:p>
          <a:p>
            <a:pPr algn="l">
              <a:lnSpc>
                <a:spcPct val="128000"/>
              </a:lnSpc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卡森写下“寂静的春天”，说的是另一种安静：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不是安宁，而是许多生命已经无法出声。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安静若来得不正常，就该被追问。我由此想起的，是自己每天走过的地方。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《寂静的春天》  ·  环境伦理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10528"/>
            <a:ext cx="22860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2  / 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103120" cy="82296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3200" b="1">
                <a:solidFill>
                  <a:srgbClr val="D5DED6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7315200" cy="329184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85A3A"/>
                </a:solidFill>
                <a:latin typeface="WenQuanYi Micro Hei"/>
                <a:ea typeface="WenQuanYi Micro Hei"/>
                <a:cs typeface="WenQuanYi Micro Hei"/>
              </a:rPr>
              <a:t>书里的追问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49808"/>
            <a:ext cx="9601200" cy="7772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3A2F"/>
                </a:solidFill>
                <a:latin typeface="WenQuanYi Micro Hei"/>
                <a:ea typeface="WenQuanYi Micro Hei"/>
                <a:cs typeface="WenQuanYi Micro Hei"/>
              </a:rPr>
              <a:t>后果并不听话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27632"/>
            <a:ext cx="1234440" cy="41148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38528"/>
            <a:ext cx="11201400" cy="41605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73152" cy="4160520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10561320" cy="3703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28000"/>
              </a:lnSpc>
              <a:spcAft>
                <a:spcPts val="1600"/>
              </a:spcAft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《寂静的春天》写到药剂怎样进入土壤、河水、食物和身体，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又怎样沿着食物链慢慢积累。</a:t>
            </a:r>
          </a:p>
          <a:p>
            <a:pPr algn="l">
              <a:lnSpc>
                <a:spcPct val="128000"/>
              </a:lnSpc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她并不要求人们放弃防治虫害。她反对的是另一种自信：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以为伤害可以只落在指定的那一只虫子身上。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《寂静的春天》  ·  环境伦理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10528"/>
            <a:ext cx="22860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3  / 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103120" cy="82296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3200" b="1">
                <a:solidFill>
                  <a:srgbClr val="D5DED6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7315200" cy="329184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85A3A"/>
                </a:solidFill>
                <a:latin typeface="WenQuanYi Micro Hei"/>
                <a:ea typeface="WenQuanYi Micro Hei"/>
                <a:cs typeface="WenQuanYi Micro Hei"/>
              </a:rPr>
              <a:t>伦理要问的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49808"/>
            <a:ext cx="9601200" cy="7772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3A2F"/>
                </a:solidFill>
                <a:latin typeface="WenQuanYi Micro Hei"/>
                <a:ea typeface="WenQuanYi Micro Hei"/>
                <a:cs typeface="WenQuanYi Micro Hei"/>
              </a:rPr>
              <a:t>有用之后，还要问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27632"/>
            <a:ext cx="1234440" cy="41148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38528"/>
            <a:ext cx="11201400" cy="41605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73152" cy="4160520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10561320" cy="3703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28000"/>
              </a:lnSpc>
              <a:spcAft>
                <a:spcPts val="1600"/>
              </a:spcAft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环境伦理不停止于“这样做有没有用”。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它还要问：对谁有用，伤害了谁，谁没有同意，损失能不能挽回。</a:t>
            </a:r>
          </a:p>
          <a:p>
            <a:pPr algn="l">
              <a:lnSpc>
                <a:spcPct val="128000"/>
              </a:lnSpc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鸟不再鸣叫，既是生态上的损失，也是道德上的事故。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消失的声音，补偿并不总能换回。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《寂静的春天》  ·  环境伦理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10528"/>
            <a:ext cx="22860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4  / 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103120" cy="82296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3200" b="1">
                <a:solidFill>
                  <a:srgbClr val="D5DED6"/>
                </a:solidFill>
                <a:latin typeface="WenQuanYi Micro Hei"/>
                <a:ea typeface="WenQuanYi Micro Hei"/>
                <a:cs typeface="WenQuanYi Micro 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7315200" cy="329184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85A3A"/>
                </a:solidFill>
                <a:latin typeface="WenQuanYi Micro Hei"/>
                <a:ea typeface="WenQuanYi Micro Hei"/>
                <a:cs typeface="WenQuanYi Micro Hei"/>
              </a:rPr>
              <a:t>几种看法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49808"/>
            <a:ext cx="9601200" cy="7772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3A2F"/>
                </a:solidFill>
                <a:latin typeface="WenQuanYi Micro Hei"/>
                <a:ea typeface="WenQuanYi Micro Hei"/>
                <a:cs typeface="WenQuanYi Micro Hei"/>
              </a:rPr>
              <a:t>先守住底线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27632"/>
            <a:ext cx="1234440" cy="41148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38528"/>
            <a:ext cx="11201400" cy="41605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73152" cy="4160520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10561320" cy="3703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28000"/>
              </a:lnSpc>
              <a:spcAft>
                <a:spcPts val="1600"/>
              </a:spcAft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有人因为人类需要而保护自然，有人因为生命本身值得尊重，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也有人看到河流、土壤与物种构成的共同体。这些名称可以先放下。</a:t>
            </a:r>
          </a:p>
          <a:p>
            <a:pPr algn="l">
              <a:lnSpc>
                <a:spcPct val="128000"/>
              </a:lnSpc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即便只为人的健康，我们已经应当克制。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不能开口的生命，更不该因为无法拒绝就被忽略。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《寂静的春天》  ·  环境伦理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10528"/>
            <a:ext cx="22860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5  / 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103120" cy="82296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3200" b="1">
                <a:solidFill>
                  <a:srgbClr val="D5DED6"/>
                </a:solidFill>
                <a:latin typeface="WenQuanYi Micro Hei"/>
                <a:ea typeface="WenQuanYi Micro Hei"/>
                <a:cs typeface="WenQuanYi Micro 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7315200" cy="329184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85A3A"/>
                </a:solidFill>
                <a:latin typeface="WenQuanYi Micro Hei"/>
                <a:ea typeface="WenQuanYi Micro Hei"/>
                <a:cs typeface="WenQuanYi Micro Hei"/>
              </a:rPr>
              <a:t>身边所见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49808"/>
            <a:ext cx="9601200" cy="7772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3A2F"/>
                </a:solidFill>
                <a:latin typeface="WenQuanYi Micro Hei"/>
                <a:ea typeface="WenQuanYi Micro Hei"/>
                <a:cs typeface="WenQuanYi Micro Hei"/>
              </a:rPr>
              <a:t>请关窗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27632"/>
            <a:ext cx="1234440" cy="41148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38528"/>
            <a:ext cx="11201400" cy="41605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73152" cy="4160520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10561320" cy="3703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28000"/>
              </a:lnSpc>
              <a:spcAft>
                <a:spcPts val="1600"/>
              </a:spcAft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夏夜，小区喷药灭蚊，通知常常只剩一句“请关窗”。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草地、晾着的衣服、灌木里的猫，都躲不开那层雾。</a:t>
            </a:r>
          </a:p>
          <a:p>
            <a:pPr algn="l">
              <a:lnSpc>
                <a:spcPct val="128000"/>
              </a:lnSpc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不想被叮咬，这个愿望没有错。我们很少接着问：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还有没有更窄的办法？知情，是不是等于被通知了一句？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《寂静的春天》  ·  环境伦理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10528"/>
            <a:ext cx="22860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6  / 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103120" cy="82296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3200" b="1">
                <a:solidFill>
                  <a:srgbClr val="D5DED6"/>
                </a:solidFill>
                <a:latin typeface="WenQuanYi Micro Hei"/>
                <a:ea typeface="WenQuanYi Micro Hei"/>
                <a:cs typeface="WenQuanYi Micro 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7315200" cy="329184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85A3A"/>
                </a:solidFill>
                <a:latin typeface="WenQuanYi Micro Hei"/>
                <a:ea typeface="WenQuanYi Micro Hei"/>
                <a:cs typeface="WenQuanYi Micro Hei"/>
              </a:rPr>
              <a:t>身边所见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49808"/>
            <a:ext cx="9601200" cy="7772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3A2F"/>
                </a:solidFill>
                <a:latin typeface="WenQuanYi Micro Hei"/>
                <a:ea typeface="WenQuanYi Micro Hei"/>
                <a:cs typeface="WenQuanYi Micro Hei"/>
              </a:rPr>
              <a:t>整洁不等于活着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27632"/>
            <a:ext cx="1234440" cy="41148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38528"/>
            <a:ext cx="11201400" cy="41605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73152" cy="4160520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10561320" cy="3703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28000"/>
              </a:lnSpc>
              <a:spcAft>
                <a:spcPts val="1600"/>
              </a:spcAft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河岸被砌平，路灯亮了，老人却说鱼一年比一年少。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整洁有时是治理，有时只是清除。</a:t>
            </a:r>
          </a:p>
          <a:p>
            <a:pPr algn="l">
              <a:lnSpc>
                <a:spcPct val="128000"/>
              </a:lnSpc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外卖和塑料袋更日常：没有谁存心作恶，只有不断重复的方便。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代价被推给河道、土壤，和还不能发言的后人。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《寂静的春天》  ·  环境伦理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10528"/>
            <a:ext cx="22860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7  / 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103120" cy="82296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3200" b="1">
                <a:solidFill>
                  <a:srgbClr val="D5DED6"/>
                </a:solidFill>
                <a:latin typeface="WenQuanYi Micro Hei"/>
                <a:ea typeface="WenQuanYi Micro Hei"/>
                <a:cs typeface="WenQuanYi Micro 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7315200" cy="329184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85A3A"/>
                </a:solidFill>
                <a:latin typeface="WenQuanYi Micro Hei"/>
                <a:ea typeface="WenQuanYi Micro Hei"/>
                <a:cs typeface="WenQuanYi Micro Hei"/>
              </a:rPr>
              <a:t>责任如何消失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49808"/>
            <a:ext cx="9601200" cy="7772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3A2F"/>
                </a:solidFill>
                <a:latin typeface="WenQuanYi Micro Hei"/>
                <a:ea typeface="WenQuanYi Micro Hei"/>
                <a:cs typeface="WenQuanYi Micro Hei"/>
              </a:rPr>
              <a:t>“不是我”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27632"/>
            <a:ext cx="1234440" cy="41148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38528"/>
            <a:ext cx="11201400" cy="41605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73152" cy="4160520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10561320" cy="3703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28000"/>
              </a:lnSpc>
              <a:spcAft>
                <a:spcPts val="1600"/>
              </a:spcAft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这些伤害看不见，来得慢，又被分成很小的一份，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于是每个人都能说“不是我”。责任一旦被稀释，并不因此消失。</a:t>
            </a:r>
          </a:p>
          <a:p>
            <a:pPr algn="l">
              <a:lnSpc>
                <a:spcPct val="128000"/>
              </a:lnSpc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环境问题里最常见的不公，是好处归一方，风险归另一方。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卡森把散开的事实重新接上，让链条末端的生命被看见。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《寂静的春天》  ·  环境伦理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10528"/>
            <a:ext cx="22860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8  / 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103120" cy="82296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3200" b="1">
                <a:solidFill>
                  <a:srgbClr val="D5DED6"/>
                </a:solidFill>
                <a:latin typeface="WenQuanYi Micro Hei"/>
                <a:ea typeface="WenQuanYi Micro Hei"/>
                <a:cs typeface="WenQuanYi Micro 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7315200" cy="329184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85A3A"/>
                </a:solidFill>
                <a:latin typeface="WenQuanYi Micro Hei"/>
                <a:ea typeface="WenQuanYi Micro Hei"/>
                <a:cs typeface="WenQuanYi Micro Hei"/>
              </a:rPr>
              <a:t>时间与后人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49808"/>
            <a:ext cx="9601200" cy="7772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3A2F"/>
                </a:solidFill>
                <a:latin typeface="WenQuanYi Micro Hei"/>
                <a:ea typeface="WenQuanYi Micro Hei"/>
                <a:cs typeface="WenQuanYi Micro Hei"/>
              </a:rPr>
              <a:t>再等一等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27632"/>
            <a:ext cx="1234440" cy="41148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38528"/>
            <a:ext cx="11201400" cy="41605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73152" cy="4160520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10561320" cy="3703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28000"/>
              </a:lnSpc>
              <a:spcAft>
                <a:spcPts val="1600"/>
              </a:spcAft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“还没有定论”常常用来换取继续照旧的时间。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当伤害可能严重、而且难以挽回，谨慎本身就是一种道德。</a:t>
            </a:r>
          </a:p>
          <a:p>
            <a:pPr algn="l">
              <a:lnSpc>
                <a:spcPct val="128000"/>
              </a:lnSpc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过早的谨慎，往往比过晚的确信更负责。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未来的人不坐在今天的谈判桌前。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对他们来说，再等一等，也许就是没有了。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《寂静的春天》  ·  环境伦理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10528"/>
            <a:ext cx="22860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9  / 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103120" cy="82296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3200" b="1">
                <a:solidFill>
                  <a:srgbClr val="D5DED6"/>
                </a:solidFill>
                <a:latin typeface="WenQuanYi Micro Hei"/>
                <a:ea typeface="WenQuanYi Micro Hei"/>
                <a:cs typeface="WenQuanYi Micro 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7315200" cy="329184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85A3A"/>
                </a:solidFill>
                <a:latin typeface="WenQuanYi Micro Hei"/>
                <a:ea typeface="WenQuanYi Micro Hei"/>
                <a:cs typeface="WenQuanYi Micro Hei"/>
              </a:rPr>
              <a:t>一种幻觉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49808"/>
            <a:ext cx="9601200" cy="7772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3A2F"/>
                </a:solidFill>
                <a:latin typeface="WenQuanYi Micro Hei"/>
                <a:ea typeface="WenQuanYi Micro Hei"/>
                <a:cs typeface="WenQuanYi Micro Hei"/>
              </a:rPr>
              <a:t>何处该停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27632"/>
            <a:ext cx="1234440" cy="41148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38528"/>
            <a:ext cx="11201400" cy="41605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73152" cy="4160520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10561320" cy="3703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28000"/>
              </a:lnSpc>
              <a:spcAft>
                <a:spcPts val="1600"/>
              </a:spcAft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卡森质疑“控制自然”，不是反对求知，而是反对狂妄。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认识了局部，不等于有权重组整个生活世界。</a:t>
            </a:r>
          </a:p>
          <a:p>
            <a:pPr algn="l">
              <a:lnSpc>
                <a:spcPct val="128000"/>
              </a:lnSpc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全面喷药、砌死河岸、再换一个更大的袋子，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每一步都像在解决问题，连起来却可能去掉自然自身的调节。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《寂静的春天》  ·  环境伦理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10528"/>
            <a:ext cx="22860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10  /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B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0" y="201168"/>
            <a:ext cx="2103120" cy="82296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3200" b="1">
                <a:solidFill>
                  <a:srgbClr val="D5DED6"/>
                </a:solidFill>
                <a:latin typeface="WenQuanYi Micro Hei"/>
                <a:ea typeface="WenQuanYi Micro Hei"/>
                <a:cs typeface="WenQuanYi Micro 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47472"/>
            <a:ext cx="7315200" cy="329184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85A3A"/>
                </a:solidFill>
                <a:latin typeface="WenQuanYi Micro Hei"/>
                <a:ea typeface="WenQuanYi Micro Hei"/>
                <a:cs typeface="WenQuanYi Micro Hei"/>
              </a:rPr>
              <a:t>落到今天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749808"/>
            <a:ext cx="9601200" cy="77724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B3A2F"/>
                </a:solidFill>
                <a:latin typeface="WenQuanYi Micro Hei"/>
                <a:ea typeface="WenQuanYi Micro Hei"/>
                <a:cs typeface="WenQuanYi Micro Hei"/>
              </a:rPr>
              <a:t>在意，才会出声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27632"/>
            <a:ext cx="1234440" cy="41148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38528"/>
            <a:ext cx="11201400" cy="4160520"/>
          </a:xfrm>
          <a:prstGeom prst="rect">
            <a:avLst/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38528"/>
            <a:ext cx="73152" cy="4160520"/>
          </a:xfrm>
          <a:prstGeom prst="rect">
            <a:avLst/>
          </a:prstGeom>
          <a:solidFill>
            <a:srgbClr val="A8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10561320" cy="3703320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28000"/>
              </a:lnSpc>
              <a:spcAft>
                <a:spcPts val="1600"/>
              </a:spcAft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责任不必先说得很大。问清一次喷药的范围，少用一个塑料袋，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同时承认这代替不了制度。更要紧的是还愿意在意。</a:t>
            </a:r>
          </a:p>
          <a:p>
            <a:pPr algn="l">
              <a:lnSpc>
                <a:spcPct val="128000"/>
              </a:lnSpc>
            </a:pPr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没有在意，问题就不会被说出来。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人不该把世界改到只剩下自己的回声。</a:t>
            </a:r>
            <a:br/>
            <a:r>
              <a:rPr sz="2400" b="0">
                <a:solidFill>
                  <a:srgbClr val="1C2824"/>
                </a:solidFill>
                <a:latin typeface="WenQuanYi Micro Hei"/>
                <a:ea typeface="WenQuanYi Micro Hei"/>
                <a:cs typeface="WenQuanYi Micro Hei"/>
              </a:rPr>
              <a:t>寂静若已开始，它不是风景，是催促。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《寂静的春天》  ·  环境伦理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6510528"/>
            <a:ext cx="2286000" cy="292608"/>
          </a:xfrm>
          <a:prstGeom prst="rect">
            <a:avLst/>
          </a:prstGeom>
          <a:noFill/>
        </p:spPr>
        <p:txBody>
          <a:bodyPr wrap="square" anchor="t" lIns="73152" rIns="73152" tIns="36576" bIns="36576"/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E4EBE4"/>
                </a:solidFill>
                <a:latin typeface="WenQuanYi Micro Hei"/>
                <a:ea typeface="WenQuanYi Micro Hei"/>
                <a:cs typeface="WenQuanYi Micro Hei"/>
              </a:rPr>
              <a:t>11  /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寂静从何而来：重读《寂静的春天》</dc:title>
  <dc:subject>环境伦理读书报告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